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79" r:id="rId11"/>
    <p:sldId id="280" r:id="rId12"/>
    <p:sldId id="267" r:id="rId13"/>
    <p:sldId id="282" r:id="rId14"/>
    <p:sldId id="281" r:id="rId15"/>
    <p:sldId id="268" r:id="rId16"/>
    <p:sldId id="278" r:id="rId17"/>
    <p:sldId id="283" r:id="rId18"/>
    <p:sldId id="269" r:id="rId19"/>
    <p:sldId id="275" r:id="rId20"/>
    <p:sldId id="277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C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BD499E-C524-4092-906E-51960229D75A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5284D-2C50-4AFF-A97A-692D45AF9D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18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5284D-2C50-4AFF-A97A-692D45AF9D0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659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9895-1A95-7847-4951-4F5057A0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6AC31-8FA3-D1A4-99C5-DEE39115A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B9079D-9733-FF50-0714-319FA28E0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9EAAF-DA94-8673-6F0B-1BB647210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5284D-2C50-4AFF-A97A-692D45AF9D0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057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1F64-695A-0C62-F068-E05B2C20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F8D28-50BB-CA07-C10C-E608936B7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FE037-6092-BDC1-737E-55962DA61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87D3C-5A5E-773D-DC42-D58BC7FAF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5284D-2C50-4AFF-A97A-692D45AF9D0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39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96675" y="0"/>
            <a:ext cx="695325" cy="7048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612" y="-1650"/>
            <a:ext cx="6769099" cy="6840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" y="1051242"/>
            <a:ext cx="11195685" cy="2967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99851" y="6389846"/>
            <a:ext cx="320675" cy="305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41275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4768" y="2787495"/>
            <a:ext cx="1990725" cy="1885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41075" y="637889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32" y="3814762"/>
            <a:ext cx="3816668" cy="1144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  <a:p>
            <a:pPr marL="240665" marR="5080">
              <a:lnSpc>
                <a:spcPct val="100899"/>
              </a:lnSpc>
              <a:spcBef>
                <a:spcPts val="75"/>
              </a:spcBef>
            </a:pPr>
            <a:r>
              <a:rPr lang="en-US" sz="1800" dirty="0">
                <a:latin typeface="Times New Roman"/>
                <a:cs typeface="Times New Roman"/>
              </a:rPr>
              <a:t>Gowtham R </a:t>
            </a:r>
            <a:r>
              <a:rPr sz="1800" spc="-10" dirty="0">
                <a:latin typeface="Times New Roman"/>
                <a:cs typeface="Times New Roman"/>
              </a:rPr>
              <a:t>(221CV2</a:t>
            </a:r>
            <a:r>
              <a:rPr lang="en-US" sz="1800" spc="-10" dirty="0">
                <a:latin typeface="Times New Roman"/>
                <a:cs typeface="Times New Roman"/>
              </a:rPr>
              <a:t>22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IN" sz="1800" spc="-10" dirty="0">
              <a:latin typeface="Times New Roman"/>
              <a:cs typeface="Times New Roman"/>
            </a:endParaRPr>
          </a:p>
          <a:p>
            <a:pPr marL="240665" marR="5080">
              <a:lnSpc>
                <a:spcPct val="100899"/>
              </a:lnSpc>
              <a:spcBef>
                <a:spcPts val="75"/>
              </a:spcBef>
            </a:pP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Kandolu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Vasantha Raju</a:t>
            </a:r>
            <a:r>
              <a:rPr lang="en-IN" sz="1800" spc="-125" dirty="0">
                <a:latin typeface="Times New Roman"/>
                <a:cs typeface="Times New Roman"/>
              </a:rPr>
              <a:t> </a:t>
            </a:r>
            <a:r>
              <a:rPr lang="en-IN" sz="1800" spc="-10" dirty="0">
                <a:latin typeface="Times New Roman"/>
                <a:cs typeface="Times New Roman"/>
              </a:rPr>
              <a:t>(221CV225)</a:t>
            </a:r>
            <a:endParaRPr lang="en-IN" sz="1800" dirty="0">
              <a:latin typeface="Times New Roman"/>
              <a:cs typeface="Times New Roman"/>
            </a:endParaRPr>
          </a:p>
          <a:p>
            <a:pPr marL="240665" marR="5080">
              <a:lnSpc>
                <a:spcPct val="100899"/>
              </a:lnSpc>
              <a:spcBef>
                <a:spcPts val="75"/>
              </a:spcBef>
            </a:pPr>
            <a:r>
              <a:rPr sz="1800" spc="-10" dirty="0">
                <a:latin typeface="Times New Roman"/>
                <a:cs typeface="Times New Roman"/>
              </a:rPr>
              <a:t> 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43937" y="3756419"/>
            <a:ext cx="2537460" cy="13976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49554" marR="5080" indent="-237490">
              <a:lnSpc>
                <a:spcPct val="100800"/>
              </a:lnSpc>
              <a:spcBef>
                <a:spcPts val="85"/>
              </a:spcBef>
            </a:pPr>
            <a:r>
              <a:rPr sz="1800" b="1" dirty="0">
                <a:latin typeface="Times New Roman"/>
                <a:cs typeface="Times New Roman"/>
              </a:rPr>
              <a:t>Under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 guidance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of: </a:t>
            </a:r>
            <a:r>
              <a:rPr sz="1800" b="1" i="1" dirty="0">
                <a:latin typeface="Times New Roman"/>
                <a:cs typeface="Times New Roman"/>
              </a:rPr>
              <a:t>Dr.</a:t>
            </a:r>
            <a:r>
              <a:rPr sz="1800" b="1" i="1" spc="-3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Dwarakish</a:t>
            </a:r>
            <a:r>
              <a:rPr sz="1800" b="1" i="1" spc="-65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G</a:t>
            </a:r>
            <a:r>
              <a:rPr sz="1800" b="1" i="1" spc="-75" dirty="0">
                <a:latin typeface="Times New Roman"/>
                <a:cs typeface="Times New Roman"/>
              </a:rPr>
              <a:t> </a:t>
            </a:r>
            <a:r>
              <a:rPr sz="1800" b="1" i="1" spc="-50" dirty="0">
                <a:latin typeface="Times New Roman"/>
                <a:cs typeface="Times New Roman"/>
              </a:rPr>
              <a:t>S </a:t>
            </a:r>
            <a:r>
              <a:rPr sz="1800" dirty="0">
                <a:latin typeface="Times New Roman"/>
                <a:cs typeface="Times New Roman"/>
              </a:rPr>
              <a:t>Dept.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Water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Resource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&amp; </a:t>
            </a:r>
            <a:r>
              <a:rPr sz="1800" dirty="0">
                <a:latin typeface="Times New Roman"/>
                <a:cs typeface="Times New Roman"/>
              </a:rPr>
              <a:t>Ocean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Engineering</a:t>
            </a:r>
            <a:endParaRPr sz="1800" dirty="0">
              <a:latin typeface="Times New Roman"/>
              <a:cs typeface="Times New Roman"/>
            </a:endParaRPr>
          </a:p>
          <a:p>
            <a:pPr marL="80010">
              <a:lnSpc>
                <a:spcPts val="2105"/>
              </a:lnSpc>
            </a:pPr>
            <a:r>
              <a:rPr lang="en-IN" sz="1800" dirty="0">
                <a:latin typeface="Times New Roman"/>
                <a:cs typeface="Times New Roman"/>
              </a:rPr>
              <a:t>   </a:t>
            </a:r>
            <a:r>
              <a:rPr sz="1800" dirty="0">
                <a:latin typeface="Times New Roman"/>
                <a:cs typeface="Times New Roman"/>
              </a:rPr>
              <a:t>NITK</a:t>
            </a:r>
            <a:r>
              <a:rPr sz="1800" spc="-10" dirty="0">
                <a:latin typeface="Times New Roman"/>
                <a:cs typeface="Times New Roman"/>
              </a:rPr>
              <a:t> Surathkal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9327" y="5684519"/>
            <a:ext cx="7673340" cy="844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09270">
              <a:lnSpc>
                <a:spcPct val="100899"/>
              </a:lnSpc>
              <a:spcBef>
                <a:spcPts val="80"/>
              </a:spcBef>
            </a:pPr>
            <a:r>
              <a:rPr sz="1800" b="1" spc="-20" dirty="0">
                <a:latin typeface="Times New Roman"/>
                <a:cs typeface="Times New Roman"/>
              </a:rPr>
              <a:t>DEPARTMENT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70" dirty="0">
                <a:latin typeface="Times New Roman"/>
                <a:cs typeface="Times New Roman"/>
              </a:rPr>
              <a:t>WATER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RESOURCES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OCEAN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 </a:t>
            </a:r>
            <a:r>
              <a:rPr sz="1800" b="1" spc="-15" dirty="0">
                <a:latin typeface="Times New Roman"/>
                <a:cs typeface="Times New Roman"/>
              </a:rPr>
              <a:t>NATIONAL</a:t>
            </a:r>
            <a:r>
              <a:rPr sz="1800" b="1" spc="-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TECHNOLOGY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KARNATAKA,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SURATHKAL</a:t>
            </a:r>
            <a:endParaRPr sz="1800" dirty="0">
              <a:latin typeface="Times New Roman"/>
              <a:cs typeface="Times New Roman"/>
            </a:endParaRPr>
          </a:p>
          <a:p>
            <a:pPr marL="2567305">
              <a:lnSpc>
                <a:spcPts val="2100"/>
              </a:lnSpc>
            </a:pPr>
            <a:r>
              <a:rPr sz="1800" b="1" spc="-10" dirty="0">
                <a:latin typeface="Times New Roman"/>
                <a:cs typeface="Times New Roman"/>
              </a:rPr>
              <a:t>MANGALURU-575025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0275" y="905827"/>
            <a:ext cx="590232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imes New Roman"/>
                <a:cs typeface="Times New Roman"/>
              </a:rPr>
              <a:t>BTech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CV449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Major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</a:t>
            </a:r>
            <a:r>
              <a:rPr lang="en-IN" sz="2000" b="1" dirty="0">
                <a:latin typeface="Times New Roman"/>
                <a:cs typeface="Times New Roman"/>
              </a:rPr>
              <a:t>I  </a:t>
            </a:r>
            <a:r>
              <a:rPr sz="2000" b="1" spc="-10" dirty="0">
                <a:latin typeface="Times New Roman"/>
                <a:cs typeface="Times New Roman"/>
              </a:rPr>
              <a:t>Presentation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39189" y="1402588"/>
            <a:ext cx="1000188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3D Finite-Element Groundwater Flow Modeling of the Semi-Arid </a:t>
            </a:r>
            <a:r>
              <a:rPr lang="en-US" sz="2400" dirty="0" err="1">
                <a:solidFill>
                  <a:schemeClr val="tx1"/>
                </a:solidFill>
              </a:rPr>
              <a:t>Gundlu</a:t>
            </a:r>
            <a:r>
              <a:rPr lang="en-US" sz="2400" dirty="0">
                <a:solidFill>
                  <a:schemeClr val="tx1"/>
                </a:solidFill>
              </a:rPr>
              <a:t> Sub-Basin Using FEFLOW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580" rIns="0" bIns="0" rtlCol="0">
            <a:spAutoFit/>
          </a:bodyPr>
          <a:lstStyle/>
          <a:p>
            <a:pPr marL="32067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1F1F1"/>
                </a:solidFill>
              </a:rPr>
              <a:t>CONTENT</a:t>
            </a:r>
            <a:r>
              <a:rPr spc="-130" dirty="0">
                <a:solidFill>
                  <a:srgbClr val="F1F1F1"/>
                </a:solidFill>
              </a:rPr>
              <a:t> </a:t>
            </a:r>
            <a:r>
              <a:rPr spc="-50" dirty="0">
                <a:solidFill>
                  <a:srgbClr val="F1F1F1"/>
                </a:solidFill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41075" y="6378892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142" y="1013713"/>
            <a:ext cx="4355465" cy="3845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49300" indent="-7366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INTRODUCTION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LITERATURE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REVIEW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255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OBJECTIVES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20" dirty="0">
                <a:latin typeface="Times New Roman"/>
                <a:cs typeface="Times New Roman"/>
              </a:rPr>
              <a:t>STUDY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AREA</a:t>
            </a:r>
            <a:endParaRPr sz="2000" dirty="0">
              <a:latin typeface="Times New Roman"/>
              <a:cs typeface="Times New Roman"/>
            </a:endParaRPr>
          </a:p>
          <a:p>
            <a:pPr marL="749300" indent="-736600">
              <a:lnSpc>
                <a:spcPct val="100000"/>
              </a:lnSpc>
              <a:spcBef>
                <a:spcPts val="2180"/>
              </a:spcBef>
              <a:buFont typeface="Wingdings"/>
              <a:buChar char=""/>
              <a:tabLst>
                <a:tab pos="7493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METHODOLOGY</a:t>
            </a:r>
            <a:endParaRPr sz="2000" dirty="0">
              <a:latin typeface="Times New Roman"/>
              <a:cs typeface="Times New Roman"/>
            </a:endParaRPr>
          </a:p>
          <a:p>
            <a:pPr marL="812800" indent="-800100">
              <a:lnSpc>
                <a:spcPct val="100000"/>
              </a:lnSpc>
              <a:spcBef>
                <a:spcPts val="2255"/>
              </a:spcBef>
              <a:buFont typeface="Wingdings"/>
              <a:buChar char=""/>
              <a:tabLst>
                <a:tab pos="812800" algn="l"/>
              </a:tabLst>
            </a:pPr>
            <a:r>
              <a:rPr sz="2000" b="1" spc="-35" dirty="0">
                <a:latin typeface="Times New Roman"/>
                <a:cs typeface="Times New Roman"/>
              </a:rPr>
              <a:t>RESULTS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  <a:p>
            <a:pPr marL="812800" indent="-800100">
              <a:lnSpc>
                <a:spcPct val="100000"/>
              </a:lnSpc>
              <a:spcBef>
                <a:spcPts val="2185"/>
              </a:spcBef>
              <a:buFont typeface="Wingdings"/>
              <a:buChar char=""/>
              <a:tabLst>
                <a:tab pos="8128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REFERENCES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787" y="877805"/>
            <a:ext cx="5796598" cy="555664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 is the primary lifeline for semi-arid regions in the Indian peninsula.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flow occur within highly heterogeneous weathered and fractured rock zones.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agricultural demand has led to a critical imbalance between recharge and extraction.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Sustained over-exploitation is projected to cause drastic declines in regional water tables.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porous media assumptions are often insufficient for representing complex fractured systems.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3D numerical modeling is essential for evaluating sustainable management policies.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5"/>
              </a:spcBef>
            </a:pPr>
            <a:r>
              <a:rPr dirty="0"/>
              <a:t>INTRODUCTION</a:t>
            </a:r>
            <a:r>
              <a:rPr spc="-85" dirty="0"/>
              <a:t> </a:t>
            </a:r>
            <a:r>
              <a:rPr spc="-5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4F235-905C-745A-B84E-A13FAB48F5AA}"/>
              </a:ext>
            </a:extLst>
          </p:cNvPr>
          <p:cNvSpPr txBox="1"/>
          <p:nvPr/>
        </p:nvSpPr>
        <p:spPr>
          <a:xfrm>
            <a:off x="6705601" y="4563070"/>
            <a:ext cx="532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Source: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*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from Freeze and Cherry, 1979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 descr="Generalized groundwater flow in a fractured-rock aquifer">
            <a:extLst>
              <a:ext uri="{FF2B5EF4-FFF2-40B4-BE49-F238E27FC236}">
                <a16:creationId xmlns:a16="http://schemas.microsoft.com/office/drawing/2014/main" id="{6CB8BFBB-419B-3FF8-D4D0-430DCD8B78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054" y="1219200"/>
            <a:ext cx="5329612" cy="320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0" y="682371"/>
            <a:ext cx="12192000" cy="4575429"/>
            <a:chOff x="143040" y="805561"/>
            <a:chExt cx="11899265" cy="5554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90" y="811911"/>
              <a:ext cx="11887161" cy="11906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3040" y="2004949"/>
              <a:ext cx="11899265" cy="0"/>
            </a:xfrm>
            <a:custGeom>
              <a:avLst/>
              <a:gdLst/>
              <a:ahLst/>
              <a:cxnLst/>
              <a:rect l="l" t="t" r="r" b="b"/>
              <a:pathLst>
                <a:path w="11899265">
                  <a:moveTo>
                    <a:pt x="0" y="0"/>
                  </a:moveTo>
                  <a:lnTo>
                    <a:pt x="11899099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3040" y="805561"/>
              <a:ext cx="11899265" cy="5554345"/>
            </a:xfrm>
            <a:custGeom>
              <a:avLst/>
              <a:gdLst/>
              <a:ahLst/>
              <a:cxnLst/>
              <a:rect l="l" t="t" r="r" b="b"/>
              <a:pathLst>
                <a:path w="11899265" h="5554345">
                  <a:moveTo>
                    <a:pt x="6350" y="0"/>
                  </a:moveTo>
                  <a:lnTo>
                    <a:pt x="6350" y="5554179"/>
                  </a:lnTo>
                </a:path>
                <a:path w="11899265" h="5554345">
                  <a:moveTo>
                    <a:pt x="11892749" y="0"/>
                  </a:moveTo>
                  <a:lnTo>
                    <a:pt x="11892749" y="5554179"/>
                  </a:lnTo>
                </a:path>
                <a:path w="11899265" h="5554345">
                  <a:moveTo>
                    <a:pt x="0" y="6350"/>
                  </a:moveTo>
                  <a:lnTo>
                    <a:pt x="11899099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44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LITERATURE</a:t>
            </a:r>
            <a:r>
              <a:rPr spc="-145" dirty="0"/>
              <a:t> </a:t>
            </a:r>
            <a:r>
              <a:rPr dirty="0"/>
              <a:t>REVIEW</a:t>
            </a:r>
            <a:r>
              <a:rPr spc="-200" dirty="0"/>
              <a:t> </a:t>
            </a:r>
            <a:r>
              <a:rPr spc="-50" dirty="0"/>
              <a:t>: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139746"/>
              </p:ext>
            </p:extLst>
          </p:nvPr>
        </p:nvGraphicFramePr>
        <p:xfrm>
          <a:off x="10442" y="717322"/>
          <a:ext cx="12175052" cy="61698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99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4222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5265" marR="195580" indent="208279">
                        <a:lnSpc>
                          <a:spcPct val="139100"/>
                        </a:lnSpc>
                        <a:spcBef>
                          <a:spcPts val="965"/>
                        </a:spcBef>
                      </a:pPr>
                      <a:r>
                        <a:rPr sz="2000" b="1" spc="-30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20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20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27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BHP Billiton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500"/>
                        </a:lnSpc>
                      </a:pPr>
                      <a:endParaRPr lang="en-US" sz="2000" dirty="0"/>
                    </a:p>
                    <a:p>
                      <a:pPr marL="92710">
                        <a:lnSpc>
                          <a:spcPts val="1500"/>
                        </a:lnSpc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lnSpc>
                          <a:spcPts val="15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Olympic Dam Expansion –</a:t>
                      </a:r>
                    </a:p>
                    <a:p>
                      <a:pPr marL="92710">
                        <a:lnSpc>
                          <a:spcPts val="1500"/>
                        </a:lnSpc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92710">
                        <a:lnSpc>
                          <a:spcPts val="15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Draft EIS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2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Massive regional scale modelled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aquifer systems evaluated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Mesh handles localized stresses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4795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0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ts val="195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Ramstad et al</a:t>
                      </a:r>
                      <a:r>
                        <a:rPr lang="en-IN" sz="2000" dirty="0"/>
                        <a:t>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lang="en-IN" sz="20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sz="2000" dirty="0"/>
                        <a:t>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 source energy in                                                                          crystalline bedrock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</a:t>
                      </a:r>
                      <a:r>
                        <a:rPr lang="en-IN"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ctr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Char char="•"/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Explicit fracture mapping essential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Fracturing alters network geometry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controls overall yield</a:t>
                      </a:r>
                    </a:p>
                    <a:p>
                      <a:pPr marL="342900" indent="-342900" algn="ctr">
                        <a:buFont typeface="Arial" panose="020B0604020202020204" pitchFamily="34" charset="0"/>
                        <a:buChar char="•"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30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 et al.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Simulation of groundwater level recovery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  2016</a:t>
                      </a: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 flow models integrated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Fractures simulated as conduits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DFEs predict recovery accurately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1734800" y="6400800"/>
            <a:ext cx="609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6443"/>
              </p:ext>
            </p:extLst>
          </p:nvPr>
        </p:nvGraphicFramePr>
        <p:xfrm>
          <a:off x="0" y="640270"/>
          <a:ext cx="12154695" cy="60024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0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59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endParaRPr lang="en-IN" sz="1800" b="1" spc="-10" dirty="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Author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B7C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endParaRPr lang="en-IN" sz="1800" b="1" spc="-10" dirty="0">
                        <a:latin typeface="Times New Roman"/>
                        <a:cs typeface="Times New Roman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Title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B7C9E8"/>
                    </a:solidFill>
                  </a:tcPr>
                </a:tc>
                <a:tc>
                  <a:txBody>
                    <a:bodyPr/>
                    <a:lstStyle/>
                    <a:p>
                      <a:pPr marL="343535" marR="325755" indent="208279" algn="l">
                        <a:lnSpc>
                          <a:spcPct val="139000"/>
                        </a:lnSpc>
                        <a:spcBef>
                          <a:spcPts val="560"/>
                        </a:spcBef>
                      </a:pPr>
                      <a:endParaRPr lang="en-IN" sz="1800" b="1" spc="-40" dirty="0">
                        <a:latin typeface="Times New Roman"/>
                        <a:cs typeface="Times New Roman"/>
                      </a:endParaRPr>
                    </a:p>
                    <a:p>
                      <a:pPr marL="343535" marR="325755" indent="208279" algn="l">
                        <a:lnSpc>
                          <a:spcPct val="139000"/>
                        </a:lnSpc>
                        <a:spcBef>
                          <a:spcPts val="560"/>
                        </a:spcBef>
                      </a:pPr>
                      <a:r>
                        <a:rPr lang="en-IN" sz="1800" b="1" spc="-40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lang="en-IN" sz="18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b="1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lang="en-IN" sz="1800" b="1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lang="en-IN"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B7C9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endParaRPr lang="en-IN" sz="1800" b="1" dirty="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B7C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8257">
                <a:tc>
                  <a:txBody>
                    <a:bodyPr/>
                    <a:lstStyle/>
                    <a:p>
                      <a:pPr marL="12700" algn="l"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Yang et al.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45745" marR="222885" algn="ctr">
                        <a:lnSpc>
                          <a:spcPct val="908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model for system conceptualization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74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Fractured rock flow modelled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frameworks translated to   grids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numerical gridding workflow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3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Varalakshmi et al.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Groundwater Flow Modeling of a Hard Rock Aquifer: Case Study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3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03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Two-layer hard-rock model developed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pumping causes severe decline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40% draft reduction recovers levels</a:t>
                      </a: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13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Pareta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Groundwater contamination modelling in Ayad River Basin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22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034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Complex geometric data handled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GIS data successfully integrated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High-accuracy numerical modeling 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achieved</a:t>
                      </a:r>
                    </a:p>
                  </a:txBody>
                  <a:tcPr marL="0" marR="0" marT="17843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62622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046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LITERATURE</a:t>
            </a:r>
            <a:r>
              <a:rPr spc="-100" dirty="0"/>
              <a:t> </a:t>
            </a:r>
            <a:r>
              <a:rPr dirty="0"/>
              <a:t>REVIEW</a:t>
            </a:r>
            <a:r>
              <a:rPr spc="-165" dirty="0"/>
              <a:t> </a:t>
            </a:r>
            <a:r>
              <a:rPr spc="-50" dirty="0"/>
              <a:t>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87200" y="6544935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17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05"/>
              </a:spcBef>
            </a:pPr>
            <a:r>
              <a:rPr dirty="0"/>
              <a:t>OBJECTIVES</a:t>
            </a:r>
            <a:r>
              <a:rPr spc="-16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34469" y="6342539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577" y="1010856"/>
            <a:ext cx="11219497" cy="4125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groundwater importance, depletion, and complex hard-rock hydrogeology in the semi-arid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Gundlu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Basin.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precise 3D finite-element groundwater model using FEFLOW to map weathered and fractured subsurface layers.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the regional groundwater budget by analyzing dynamic inputs and outputs over a multi-year simulation.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sustainable water-use planning by formulating predictive scenarios and testing them through collaborative analysis.</a:t>
            </a:r>
            <a:endParaRPr lang="en-US" sz="2000" dirty="0">
              <a:latin typeface="Times New Roman"/>
              <a:cs typeface="Times New Roman"/>
            </a:endParaRPr>
          </a:p>
          <a:p>
            <a:pPr marL="325755" marR="5080" indent="-313055">
              <a:lnSpc>
                <a:spcPct val="150000"/>
              </a:lnSpc>
              <a:spcBef>
                <a:spcPts val="100"/>
              </a:spcBef>
              <a:buSzPct val="97916"/>
              <a:buFont typeface="Wingdings"/>
              <a:buChar char=""/>
              <a:tabLst>
                <a:tab pos="393700" algn="l"/>
                <a:tab pos="183642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7050" y="666747"/>
            <a:ext cx="9124950" cy="61514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STUDY</a:t>
            </a:r>
            <a:r>
              <a:rPr spc="-340" dirty="0"/>
              <a:t> </a:t>
            </a:r>
            <a:r>
              <a:rPr dirty="0"/>
              <a:t>AREA</a:t>
            </a:r>
            <a:r>
              <a:rPr spc="-185" dirty="0"/>
              <a:t> </a:t>
            </a:r>
            <a:r>
              <a:rPr spc="-20" dirty="0"/>
              <a:t>MAP: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95506" y="6414928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292" y="1083627"/>
            <a:ext cx="2664460" cy="53049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Gundlu</a:t>
            </a:r>
            <a:r>
              <a:rPr sz="2000" b="1" spc="-5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Sub-Basin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2235"/>
              </a:spcBef>
              <a:buFont typeface="Wingdings"/>
              <a:buChar char=""/>
              <a:tabLst>
                <a:tab pos="354965" algn="l"/>
              </a:tabLst>
            </a:pP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Tributary</a:t>
            </a:r>
            <a:r>
              <a:rPr b="1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Kabini</a:t>
            </a:r>
            <a:r>
              <a:rPr b="1" spc="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370"/>
              </a:spcBef>
              <a:buFont typeface="Wingdings"/>
              <a:buChar char=""/>
              <a:tabLst>
                <a:tab pos="354965" algn="l"/>
              </a:tabLst>
            </a:pP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Basin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b="1" spc="-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1,270</a:t>
            </a:r>
            <a:r>
              <a:rPr b="1" spc="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km²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3555" indent="-342900">
              <a:lnSpc>
                <a:spcPts val="3229"/>
              </a:lnSpc>
              <a:spcBef>
                <a:spcPts val="280"/>
              </a:spcBef>
              <a:buFont typeface="Wingdings"/>
              <a:buChar char=""/>
              <a:tabLst>
                <a:tab pos="355600" algn="l"/>
              </a:tabLst>
            </a:pP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  <a:r>
              <a:rPr b="1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(~600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354965" algn="l"/>
              </a:tabLst>
            </a:pP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Arid</a:t>
            </a:r>
            <a:r>
              <a:rPr b="1" spc="-1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86995" indent="-342900">
              <a:lnSpc>
                <a:spcPct val="149500"/>
              </a:lnSpc>
              <a:buFont typeface="Wingdings"/>
              <a:buChar char=""/>
              <a:tabLst>
                <a:tab pos="355600" algn="l"/>
              </a:tabLst>
            </a:pP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Irrigation</a:t>
            </a:r>
            <a:r>
              <a:rPr b="1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b="1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  <a:r>
              <a:rPr b="1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53695" indent="-342900">
              <a:lnSpc>
                <a:spcPts val="3229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decline</a:t>
            </a:r>
            <a:r>
              <a:rPr b="1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  <a:r>
              <a:rPr b="1" spc="-4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DATA</a:t>
            </a:r>
            <a:r>
              <a:rPr spc="-195" dirty="0"/>
              <a:t> </a:t>
            </a:r>
            <a:r>
              <a:rPr dirty="0"/>
              <a:t>SETS</a:t>
            </a:r>
            <a:r>
              <a:rPr spc="30" dirty="0"/>
              <a:t> </a:t>
            </a:r>
            <a:r>
              <a:rPr spc="-50" dirty="0"/>
              <a:t>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1119"/>
              </p:ext>
            </p:extLst>
          </p:nvPr>
        </p:nvGraphicFramePr>
        <p:xfrm>
          <a:off x="266611" y="880745"/>
          <a:ext cx="11457394" cy="54579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6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4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/ Parameter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/ Agency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 / Scale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 Surface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/ DEM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Raster grid (elevation surface)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622545"/>
                  </a:ext>
                </a:extLst>
              </a:tr>
              <a:tr h="591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Watershed Boundary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 / Basin Delineation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polygon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709971"/>
                  </a:ext>
                </a:extLst>
              </a:tr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 Shape File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GIS / Hydrology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River / stream vector lines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635756"/>
                  </a:ext>
                </a:extLst>
              </a:tr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Head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Groundwater Observation / Model Initialization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500–800 m (typical range)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521384"/>
                  </a:ext>
                </a:extLst>
              </a:tr>
              <a:tr h="591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 Zone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LULC / Recharge Mapping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polygon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33945"/>
                  </a:ext>
                </a:extLst>
              </a:tr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RFIF Recharge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 Time-Series Analysis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time-series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220944"/>
                  </a:ext>
                </a:extLst>
              </a:tr>
              <a:tr h="712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WTF Recharge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Table Fluctuation (WTF) Method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recharge dataset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28794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582400" y="6338731"/>
            <a:ext cx="141605" cy="30543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50" dirty="0">
                <a:latin typeface="Calibri"/>
                <a:cs typeface="Calibri"/>
              </a:rPr>
              <a:t>9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277601" y="6424693"/>
            <a:ext cx="3047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spc="-25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155" dirty="0"/>
              <a:t> </a:t>
            </a:r>
            <a:r>
              <a:rPr spc="-50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F7B7F1-1C57-E549-D56F-85AF5BF1A709}"/>
              </a:ext>
            </a:extLst>
          </p:cNvPr>
          <p:cNvSpPr txBox="1"/>
          <p:nvPr/>
        </p:nvSpPr>
        <p:spPr>
          <a:xfrm>
            <a:off x="228600" y="6224638"/>
            <a:ext cx="1066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Generated and refined using OpenAI ChatGPT Image Generation (GPT-5.5), 2026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FDC470-7952-852C-F238-E7A9B056B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740921"/>
            <a:ext cx="11963400" cy="54939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8E55-4EE4-1C8B-1AA7-4EE30890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FBC98E59-1F5C-8CC3-ABF0-51587D3E5D7C}"/>
              </a:ext>
            </a:extLst>
          </p:cNvPr>
          <p:cNvSpPr txBox="1"/>
          <p:nvPr/>
        </p:nvSpPr>
        <p:spPr>
          <a:xfrm>
            <a:off x="11277601" y="6424693"/>
            <a:ext cx="3047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8B47E84-3CFE-0B3E-21F5-BB9145E73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155" dirty="0"/>
              <a:t> </a:t>
            </a:r>
            <a:r>
              <a:rPr spc="-50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0A109-F2AD-C6D1-BE93-1F1CC72F1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5" y="1064912"/>
            <a:ext cx="5604205" cy="4728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B9B886-A366-09FC-F16A-6043BF83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7706"/>
            <a:ext cx="5242368" cy="47281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ECE044-02B0-F68D-648B-1F8134D3C127}"/>
              </a:ext>
            </a:extLst>
          </p:cNvPr>
          <p:cNvSpPr txBox="1"/>
          <p:nvPr/>
        </p:nvSpPr>
        <p:spPr>
          <a:xfrm>
            <a:off x="2895600" y="5923019"/>
            <a:ext cx="6583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Surface  Distribution and Model with Assigned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paramters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06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ED50-A921-CB49-0CA2-58752902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7881ACEE-2CA5-6D58-ED9D-BB44A5C33B86}"/>
              </a:ext>
            </a:extLst>
          </p:cNvPr>
          <p:cNvSpPr txBox="1"/>
          <p:nvPr/>
        </p:nvSpPr>
        <p:spPr>
          <a:xfrm>
            <a:off x="11277601" y="6424693"/>
            <a:ext cx="3047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spc="-25" dirty="0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B29A67C-BFD2-9A5C-390B-8ACC8B6E7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METHODOLOGY</a:t>
            </a:r>
            <a:r>
              <a:rPr spc="-155" dirty="0"/>
              <a:t> </a:t>
            </a:r>
            <a:r>
              <a:rPr spc="-50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55221-DB6E-0891-CFEF-646873CD8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90599"/>
            <a:ext cx="4724400" cy="5106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CA7EA4-338C-A7E0-EB32-F1995C070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760" y="990599"/>
            <a:ext cx="5882639" cy="51061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4972CB-8073-83DA-D381-4758AA22C488}"/>
              </a:ext>
            </a:extLst>
          </p:cNvPr>
          <p:cNvSpPr txBox="1"/>
          <p:nvPr/>
        </p:nvSpPr>
        <p:spPr>
          <a:xfrm>
            <a:off x="1828800" y="6204885"/>
            <a:ext cx="7055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Visuals of Assigned conductivity and hydraulic head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paramters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42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DISCUSSION</a:t>
            </a:r>
            <a:r>
              <a:rPr spc="-20" dirty="0"/>
              <a:t> </a:t>
            </a:r>
            <a:r>
              <a:rPr spc="-5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89675-0FEB-ECDF-6DA4-7DA923406F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1" b="48389"/>
          <a:stretch>
            <a:fillRect/>
          </a:stretch>
        </p:blipFill>
        <p:spPr>
          <a:xfrm>
            <a:off x="724372" y="838200"/>
            <a:ext cx="10743255" cy="548982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8765" y="6579077"/>
            <a:ext cx="254635" cy="2789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12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BBBD-D154-A20E-A26A-CC92928F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9499A4-D73D-9308-1703-430636947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DISCUSSION</a:t>
            </a:r>
            <a:r>
              <a:rPr spc="-20" dirty="0"/>
              <a:t> </a:t>
            </a:r>
            <a:r>
              <a:rPr spc="-5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C26F8A-CD14-CE18-A41B-C71A8759AA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60" t="-47914" r="3728" b="96303"/>
          <a:stretch>
            <a:fillRect/>
          </a:stretch>
        </p:blipFill>
        <p:spPr>
          <a:xfrm>
            <a:off x="1447800" y="-2893822"/>
            <a:ext cx="7772400" cy="3971715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A7BEF48-B5EC-47C5-16CC-1183E532D6D3}"/>
              </a:ext>
            </a:extLst>
          </p:cNvPr>
          <p:cNvSpPr txBox="1"/>
          <p:nvPr/>
        </p:nvSpPr>
        <p:spPr>
          <a:xfrm>
            <a:off x="11708765" y="6579077"/>
            <a:ext cx="254635" cy="2789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13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61777-4EF1-BBA9-B4C2-F00B5D277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762" r="-7190"/>
          <a:stretch>
            <a:fillRect/>
          </a:stretch>
        </p:blipFill>
        <p:spPr>
          <a:xfrm>
            <a:off x="838200" y="1219200"/>
            <a:ext cx="10723912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3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7A6E-BB89-93DD-07FF-41291B1A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B2569D-8275-01CC-9BC2-8F254CF8F3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DISCUSSION</a:t>
            </a:r>
            <a:r>
              <a:rPr spc="-20" dirty="0"/>
              <a:t> </a:t>
            </a:r>
            <a:r>
              <a:rPr spc="-50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2254B4-C843-DB13-27A9-AA9A5DC03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990600"/>
            <a:ext cx="8534400" cy="527391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7AFE45D-009A-479B-2FBE-A160A93B16A5}"/>
              </a:ext>
            </a:extLst>
          </p:cNvPr>
          <p:cNvSpPr txBox="1"/>
          <p:nvPr/>
        </p:nvSpPr>
        <p:spPr>
          <a:xfrm>
            <a:off x="11708765" y="6579077"/>
            <a:ext cx="254635" cy="2789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14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9324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08765" y="6383325"/>
            <a:ext cx="254635" cy="2789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spc="-25" dirty="0">
                <a:latin typeface="Calibri"/>
                <a:cs typeface="Calibri"/>
              </a:rPr>
              <a:t>1</a:t>
            </a:r>
            <a:r>
              <a:rPr lang="en-IN" b="1" spc="-25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2D92E-011A-BE3B-58A3-C0AFD1102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3860"/>
            <a:ext cx="11963400" cy="48321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B09F-0D38-E69E-8CDC-AD9DC993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EFB3AD-19F4-B397-39BF-8E686C858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4C83F-24AA-7AA0-3C0E-0F78A856CC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47" b="48643"/>
          <a:stretch>
            <a:fillRect/>
          </a:stretch>
        </p:blipFill>
        <p:spPr>
          <a:xfrm>
            <a:off x="208553" y="1181100"/>
            <a:ext cx="11774894" cy="449580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1164BCE1-0028-2047-9B1C-FE2EF89472F7}"/>
              </a:ext>
            </a:extLst>
          </p:cNvPr>
          <p:cNvSpPr txBox="1"/>
          <p:nvPr/>
        </p:nvSpPr>
        <p:spPr>
          <a:xfrm>
            <a:off x="11582400" y="6400800"/>
            <a:ext cx="254635" cy="55592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16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474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A0B2-118D-F9B9-4A92-3F7879010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74CEF2C-F3BE-7095-D00E-A9F7DA657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13394-6DA5-DB7B-0FE0-5491820982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5" t="52225" r="-4237" b="-1282"/>
          <a:stretch>
            <a:fillRect/>
          </a:stretch>
        </p:blipFill>
        <p:spPr>
          <a:xfrm>
            <a:off x="74612" y="1733615"/>
            <a:ext cx="12249566" cy="413446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75D0A12-A6CB-6647-FF42-A92FBA0CFEBF}"/>
              </a:ext>
            </a:extLst>
          </p:cNvPr>
          <p:cNvSpPr txBox="1"/>
          <p:nvPr/>
        </p:nvSpPr>
        <p:spPr>
          <a:xfrm>
            <a:off x="11582400" y="6400800"/>
            <a:ext cx="254635" cy="555921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17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0C108-2FAA-AFB7-9C47-6906039A8C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66" t="-1" r="32308" b="94686"/>
          <a:stretch>
            <a:fillRect/>
          </a:stretch>
        </p:blipFill>
        <p:spPr>
          <a:xfrm>
            <a:off x="3527238" y="989920"/>
            <a:ext cx="5137524" cy="51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5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RESULTS</a:t>
            </a:r>
            <a:r>
              <a:rPr spc="-21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DISCUSSION</a:t>
            </a:r>
            <a:r>
              <a:rPr spc="-2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30000" y="6400800"/>
            <a:ext cx="254635" cy="2789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1800" b="1" spc="-25" dirty="0">
                <a:latin typeface="Calibri"/>
                <a:cs typeface="Calibri"/>
              </a:rPr>
              <a:t>18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93553C-41D6-E1F9-FAC0-B29F6E057059}"/>
              </a:ext>
            </a:extLst>
          </p:cNvPr>
          <p:cNvSpPr txBox="1"/>
          <p:nvPr/>
        </p:nvSpPr>
        <p:spPr>
          <a:xfrm>
            <a:off x="402209" y="724931"/>
            <a:ext cx="105156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structurally valid, FEFLOW correctly simulates the         seasonal groundwater fluctuation pattern. The direction of head change over time follows observed trends ( from R² = 0.40–0.88 and stable residuals).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systematic offset of 75–250 m exists between simulated and observed heads. This is caused by incorrect initial hydraulic head assignment and spatial variation in hydraulic conductivity (K) that has not yet been zone-calibrated. This is a standard pre-calibration condition in groundwater modelling, not a model failure.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Fine tuning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initial heads file correctly, apply zone-based K values and re-run.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Gundlupete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Kulageri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 should be used as primary calibration anchor wells due to their already-better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12" y="-1650"/>
            <a:ext cx="6769099" cy="629659"/>
          </a:xfrm>
          <a:prstGeom prst="rect">
            <a:avLst/>
          </a:prstGeom>
        </p:spPr>
        <p:txBody>
          <a:bodyPr vert="horz" wrap="square" lIns="0" tIns="749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  <a:r>
              <a:rPr lang="en-IN" dirty="0"/>
              <a:t>S</a:t>
            </a:r>
            <a:r>
              <a:rPr spc="-6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353800" y="6324600"/>
            <a:ext cx="32067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lang="en-IN" spc="-25" dirty="0"/>
              <a:t>19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4612" y="816923"/>
            <a:ext cx="11888788" cy="49330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Varalakshmi, V., Rao, B. V.,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Surinaidu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L., and Tejaswini, M. (2014). “Groundwater Flow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Hard Rock Aquifer: Case Study.” Journal of Hydrologic Engineering, 19(5), 877–886.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H. F., and Anderson, M. P. (1982). Introduction to Groundwater Modeling: Finite Difference and Finite Element Methods. W.H. Freeman.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Wada, Y., Van Beek, L. P. H.,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Bierkens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F. P. (2010). “Global depletion of groundwater resources.” Geophysical Research Letters, 37(20).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Waterloo Hydrogeologic. (2002). Visual MODFLOW User Manual. Waterloo Hydrogeologic Inc., Canada.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9382-4E65-FD5B-49FF-67B9E547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811DED-F804-A5F8-4FB2-789816019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612" y="-1650"/>
            <a:ext cx="6769099" cy="629659"/>
          </a:xfrm>
          <a:prstGeom prst="rect">
            <a:avLst/>
          </a:prstGeom>
        </p:spPr>
        <p:txBody>
          <a:bodyPr vert="horz" wrap="square" lIns="0" tIns="749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REFERENCE</a:t>
            </a:r>
            <a:r>
              <a:rPr lang="en-IN" dirty="0"/>
              <a:t>S</a:t>
            </a:r>
            <a:r>
              <a:rPr spc="-65" dirty="0"/>
              <a:t> </a:t>
            </a:r>
            <a:r>
              <a:rPr spc="-50" dirty="0"/>
              <a:t>: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7B1F5A3-678C-9A27-A2A3-8F8B4819205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01400" y="6215095"/>
            <a:ext cx="32067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lang="en-IN" spc="-25" dirty="0"/>
              <a:t>20</a:t>
            </a:r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86EDB-322C-10F5-CCFE-A17BA935B6FA}"/>
              </a:ext>
            </a:extLst>
          </p:cNvPr>
          <p:cNvSpPr txBox="1"/>
          <p:nvPr/>
        </p:nvSpPr>
        <p:spPr>
          <a:xfrm>
            <a:off x="0" y="793419"/>
            <a:ext cx="118872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Alley, W. M., Reilly, T. E., and Franke, O. L. (1999). “Sustainability of Ground-Water Resources.” U.S. Geological Survey Circular, 1186.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Anderson, M. P., and Woessner, W. W. (1992). Applied Groundwater Modeling: Simulation of Flow and Advective Transport. Academic Press.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Briz-Kishore, B. H., and </a:t>
            </a:r>
            <a:r>
              <a:rPr lang="en-US" sz="2400" dirty="0" err="1"/>
              <a:t>Bhimasankaram</a:t>
            </a:r>
            <a:r>
              <a:rPr lang="en-US" sz="2400" dirty="0"/>
              <a:t>, V. L. S. (1982). “Evaluation of aquifer behavior in a typical crystalline basement.” Ground Water, 20(5), 563–568.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Detay</a:t>
            </a:r>
            <a:r>
              <a:rPr lang="en-US" sz="2400" dirty="0"/>
              <a:t>, M., Poyet, P., </a:t>
            </a:r>
            <a:r>
              <a:rPr lang="en-US" sz="2400" dirty="0" err="1"/>
              <a:t>Emsellem</a:t>
            </a:r>
            <a:r>
              <a:rPr lang="en-US" sz="2400" dirty="0"/>
              <a:t>, Y., Bernardi, A., and </a:t>
            </a:r>
            <a:r>
              <a:rPr lang="en-US" sz="2400" dirty="0" err="1"/>
              <a:t>Aubrac</a:t>
            </a:r>
            <a:r>
              <a:rPr lang="en-US" sz="2400" dirty="0"/>
              <a:t>, G. (1989). “Development of the Saprolite reservoir and its state of saturation.” </a:t>
            </a:r>
            <a:r>
              <a:rPr lang="en-US" sz="2400" dirty="0" err="1"/>
              <a:t>Comptes</a:t>
            </a:r>
            <a:r>
              <a:rPr lang="en-US" sz="2400" dirty="0"/>
              <a:t> </a:t>
            </a:r>
            <a:r>
              <a:rPr lang="en-US" sz="2400" dirty="0" err="1"/>
              <a:t>Rendus</a:t>
            </a:r>
            <a:r>
              <a:rPr lang="en-US" sz="2400" dirty="0"/>
              <a:t> de </a:t>
            </a:r>
            <a:r>
              <a:rPr lang="en-US" sz="2400" dirty="0" err="1"/>
              <a:t>l’Académie</a:t>
            </a:r>
            <a:r>
              <a:rPr lang="en-US" sz="2400" dirty="0"/>
              <a:t> des Sciences, 309, 429–436.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028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665" y="1804670"/>
            <a:ext cx="5135880" cy="3531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86155" marR="5080" indent="-974090">
              <a:lnSpc>
                <a:spcPct val="100099"/>
              </a:lnSpc>
              <a:spcBef>
                <a:spcPts val="75"/>
              </a:spcBef>
            </a:pPr>
            <a:r>
              <a:rPr sz="115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THANK </a:t>
            </a:r>
            <a:r>
              <a:rPr sz="11500" b="0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1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353800" y="6248400"/>
            <a:ext cx="32067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lang="en-IN" spc="-25" dirty="0"/>
              <a:t>18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</TotalTime>
  <Words>1059</Words>
  <Application>Microsoft Office PowerPoint</Application>
  <PresentationFormat>Widescreen</PresentationFormat>
  <Paragraphs>209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3D Finite-Element Groundwater Flow Modeling of the Semi-Arid Gundlu Sub-Basin Using FEFLOW</vt:lpstr>
      <vt:lpstr>CONTENT :</vt:lpstr>
      <vt:lpstr>INTRODUCTION :</vt:lpstr>
      <vt:lpstr>LITERATURE REVIEW :</vt:lpstr>
      <vt:lpstr>LITERATURE REVIEW :</vt:lpstr>
      <vt:lpstr>OBJECTIVES :</vt:lpstr>
      <vt:lpstr>STUDY AREA MAP:</vt:lpstr>
      <vt:lpstr>DATA SETS :</vt:lpstr>
      <vt:lpstr>METHODOLOGY :</vt:lpstr>
      <vt:lpstr>METHODOLOGY :</vt:lpstr>
      <vt:lpstr>METHODOLOGY :</vt:lpstr>
      <vt:lpstr>RESULTS AND DISCUSSION :</vt:lpstr>
      <vt:lpstr>RESULTS AND DISCUSSION :</vt:lpstr>
      <vt:lpstr>RESULTS AND DISCUSSION :</vt:lpstr>
      <vt:lpstr>RESULTS AND DISCUSSION :</vt:lpstr>
      <vt:lpstr>RESULTS AND DISCUSSION :</vt:lpstr>
      <vt:lpstr>RESULTS AND DISCUSSION :</vt:lpstr>
      <vt:lpstr>RESULTS AND DISCUSSION :</vt:lpstr>
      <vt:lpstr>REFERENCES :</vt:lpstr>
      <vt:lpstr>REFERENCES 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Mahammed Aashid</dc:creator>
  <cp:lastModifiedBy>Gowtham R</cp:lastModifiedBy>
  <cp:revision>4</cp:revision>
  <dcterms:created xsi:type="dcterms:W3CDTF">2025-11-27T18:31:25Z</dcterms:created>
  <dcterms:modified xsi:type="dcterms:W3CDTF">2026-05-08T04:24:16Z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LastSaved">
    <vt:filetime>2025-11-27T00:00:00Z</vt:filetime>
  </property>
</Properties>
</file>